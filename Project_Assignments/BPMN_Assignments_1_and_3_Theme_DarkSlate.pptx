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B4"/>
                </a:solidFill>
              </a:defRPr>
            </a:pPr>
            <a:r>
              <a:t>SLIDE 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B4"/>
                </a:solidFill>
              </a:defRPr>
            </a:pPr>
            <a:r>
              <a:t>PROJECT ASSIGNMENTS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BPMN 2.0 Process Modeling &amp; Exception Architecture</a:t>
            </a:r>
          </a:p>
          <a:p>
            <a:pPr>
              <a:spcBef>
                <a:spcPts val="400"/>
              </a:spcBef>
              <a:defRPr sz="1500">
                <a:solidFill>
                  <a:srgbClr val="91A0B4"/>
                </a:solidFill>
              </a:defRPr>
            </a:pPr>
            <a:r>
              <a:t>Analysis of Student Project Allocation &amp; Loan Origination Workflows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Comprehensive orchestration of Assignment 1 (Project Allocation) and Assignment 3 (Loan Origination).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Deep dive into deliberate task types, gateway logic, boundary events, and compensation.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End-to-end mapping of critical happy paths against complex multi-branch failure registers.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B4"/>
                </a:solidFill>
              </a:defRPr>
            </a:pPr>
            <a:r>
              <a:t>SLIDE 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B4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Process Overview &amp; Multi-Lane Architecture</a:t>
            </a:r>
          </a:p>
          <a:p>
            <a:pPr>
              <a:spcBef>
                <a:spcPts val="400"/>
              </a:spcBef>
              <a:defRPr sz="1500">
                <a:solidFill>
                  <a:srgbClr val="91A0B4"/>
                </a:solidFill>
              </a:defRPr>
            </a:pPr>
            <a:r>
              <a:t>Departmental Collaboration Across 5 Specialized Swimlanes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Orchestrates final-year capstone proposal submission, review, and faculty guide allocation.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Partitioned across 5 lanes: Student/Team, Coordinator, Review Committee, Faculty Guide, and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Bridges automated algorithmic validations with multi-tiered human academic governance.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B4"/>
                </a:solidFill>
              </a:defRPr>
            </a:pPr>
            <a:r>
              <a:t>SLIDE 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B4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Task Types &amp; Architectural Purpose</a:t>
            </a:r>
          </a:p>
          <a:p>
            <a:pPr>
              <a:spcBef>
                <a:spcPts val="400"/>
              </a:spcBef>
              <a:defRPr sz="1500">
                <a:solidFill>
                  <a:srgbClr val="91A0B4"/>
                </a:solidFill>
              </a:defRPr>
            </a:pPr>
            <a:r>
              <a:t>Selecting the Right Construct for Each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User Tasks: Applied where human judgment is needed (proposal input, screening, and committee review).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Service Tasks: Automated form completeness validation, similarity checking, and quota reservation.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Business Rule &amp; Send Tasks: DMN-based guide domain matching and automated email/system notifications.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B4"/>
                </a:solidFill>
              </a:defRPr>
            </a:pPr>
            <a:r>
              <a:t>SLIDE 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B4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Gateway Logic &amp; Control Flow</a:t>
            </a:r>
          </a:p>
          <a:p>
            <a:pPr>
              <a:spcBef>
                <a:spcPts val="400"/>
              </a:spcBef>
              <a:defRPr sz="1500">
                <a:solidFill>
                  <a:srgbClr val="91A0B4"/>
                </a:solidFill>
              </a:defRPr>
            </a:pPr>
            <a:r>
              <a:t>Deterministic Branching and Bounded Feedback Loops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Exclusive Gateways (XOR): Evaluates mutually exclusive outcomes for validation, reviews, and guide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Loop Control Gateways: Enforces hard thresholds for resubmission attempts (max 2) and revision cycles (max 2).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Fallback Gateways: Diverts unallocated teams to manual coordinator intervention, co-guides, or waitlists.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B4"/>
                </a:solidFill>
              </a:defRPr>
            </a:pPr>
            <a:r>
              <a:t>SLIDE 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B4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Intermediate &amp; Boundary Events</a:t>
            </a:r>
          </a:p>
          <a:p>
            <a:pPr>
              <a:spcBef>
                <a:spcPts val="400"/>
              </a:spcBef>
              <a:defRPr sz="1500">
                <a:solidFill>
                  <a:srgbClr val="91A0B4"/>
                </a:solidFill>
              </a:defRPr>
            </a:pPr>
            <a:r>
              <a:t>Timeouts, Service Retries, and Transactional Compensation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Timer Boundary Events: 14-day submission deadline, 5-day review reminder, and 10-day HoD escalation.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Error Boundary Events: Catches guide rejection/silence (with 3 retries) and notification service crashes.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Compensation Event: Message-triggered slot release reversing faculty quota upon student withdrawal.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B4"/>
                </a:solidFill>
              </a:defRPr>
            </a:pPr>
            <a:r>
              <a:t>SLIDE 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B4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Critical Path vs. Alternate Failure Paths</a:t>
            </a:r>
          </a:p>
          <a:p>
            <a:pPr>
              <a:spcBef>
                <a:spcPts val="400"/>
              </a:spcBef>
              <a:defRPr sz="1500">
                <a:solidFill>
                  <a:srgbClr val="91A0B4"/>
                </a:solidFill>
              </a:defRPr>
            </a:pPr>
            <a:r>
              <a:t>Tracing the 10-Step Happy Path against F1–F11 Exception Scenarios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Critical (Happy) Path: Submit → Validate → Screen → Similarity → Committee Approve → Guide Match → Confirmed.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Alternate Paths (F1–F6): Form error resubmissions, invalid team aborts, plagiarism screening, and revision loops.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Resilience Paths (F7–F11): HoD SLA escalations, manual allocation fallbacks, notification retries, and withdrawal rollback.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B4"/>
                </a:solidFill>
              </a:defRPr>
            </a:pPr>
            <a:r>
              <a:t>SLIDE 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B4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Process Overview &amp; Collaboration Pools</a:t>
            </a:r>
          </a:p>
          <a:p>
            <a:pPr>
              <a:spcBef>
                <a:spcPts val="400"/>
              </a:spcBef>
              <a:defRPr sz="1500">
                <a:solidFill>
                  <a:srgbClr val="91A0B4"/>
                </a:solidFill>
              </a:defRPr>
            </a:pPr>
            <a:r>
              <a:t>Enterprise Multi-Agency Lending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Governs retail/commercial loan origination from application intake through to core banking fund disbursement.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Dual-Pool Collaboration: Main Bank pool interacts asynchronously with an external Credit Bureau pool via Message Flows.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Bank Pool 6 Swimlanes: Applicant, Loan Officer, Underwriter, Compliance, Operations, and Core Banking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B4"/>
                </a:solidFill>
              </a:defRPr>
            </a:pPr>
            <a:r>
              <a:t>SLIDE 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B4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Task Types &amp; Functional Alignment</a:t>
            </a:r>
          </a:p>
          <a:p>
            <a:pPr>
              <a:spcBef>
                <a:spcPts val="400"/>
              </a:spcBef>
              <a:defRPr sz="1500">
                <a:solidFill>
                  <a:srgbClr val="91A0B4"/>
                </a:solidFill>
              </a:defRPr>
            </a:pPr>
            <a:r>
              <a:t>Distributing System Automation and Human Underwriting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Business Rule Tasks: Automated document completeness parsing, AML sanctions screening, and credit risk scoring.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Service &amp; Script Tasks: Core banking loan account creation, automated KYC check, bureau API calls, and offer generation.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User Tasks: Loan officer KYC mismatch resolution, income verification, senior committee approvals, and contract e-signing.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B4"/>
                </a:solidFill>
              </a:defRPr>
            </a:pPr>
            <a:r>
              <a:t>SLIDE 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B4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Gateway Diversity &amp; Concurrency</a:t>
            </a:r>
          </a:p>
          <a:p>
            <a:pPr>
              <a:spcBef>
                <a:spcPts val="400"/>
              </a:spcBef>
              <a:defRPr sz="1500">
                <a:solidFill>
                  <a:srgbClr val="91A0B4"/>
                </a:solidFill>
              </a:defRPr>
            </a:pPr>
            <a:r>
              <a:t>Orchestrating Parallel Checks and Policy Inclusions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Parallel Gateways (AND): Concurrently forks and joins KYC, Credit Bureau API call, and Income verification.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Inclusive Gateways (OR): Selectively activates Senior Credit Committee review and Secured Collateral valuation.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Exclusive Gateways (XOR): Evaluates credit cutoff thresholds to auto-approve, manual review, counter-offer, or reject.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B4"/>
                </a:solidFill>
              </a:defRPr>
            </a:pPr>
            <a:r>
              <a:t>SLIDE 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B4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Intermediate &amp; Boundary Events</a:t>
            </a:r>
          </a:p>
          <a:p>
            <a:pPr>
              <a:spcBef>
                <a:spcPts val="400"/>
              </a:spcBef>
              <a:defRPr sz="1500">
                <a:solidFill>
                  <a:srgbClr val="91A0B4"/>
                </a:solidFill>
              </a:defRPr>
            </a:pPr>
            <a:r>
              <a:t>SLA Guards, API Circuit Breaking, and Ledger Compensation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Timer Boundary Events: 7-day document resubmission SLA and 15-day offer acceptance expiry timer.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Error Boundary Events: 3-attempt circuit breaker on Credit Bureau API timeouts and payment gateway transfer failures.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Escalation, Terminate &amp; Compensation: Immediate AML Terminate End Event and loan account reversal compensation.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B4"/>
                </a:solidFill>
              </a:defRPr>
            </a:pPr>
            <a:r>
              <a:t>SLIDE 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B4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Critical Path vs. Alternate Failure Paths</a:t>
            </a:r>
          </a:p>
          <a:p>
            <a:pPr>
              <a:spcBef>
                <a:spcPts val="400"/>
              </a:spcBef>
              <a:defRPr sz="1500">
                <a:solidFill>
                  <a:srgbClr val="91A0B4"/>
                </a:solidFill>
              </a:defRPr>
            </a:pPr>
            <a:r>
              <a:t>Tracing the 10-Step Happy Path against L1–L12 Exception Scenarios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Critical (Happy) Path: Application → 3-Way Parallel Check → Low Risk → Underwrite → Offer E-Signed → Disbursed.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Alternate Paths (L1–L8): Document missing loop, manual KYC resolution, counter-offer restructuring, and title appraisal.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Fatal Exception Paths (L3, L9–L12): Immediate AML sanctions termination, offer lapse, withdrawal rollback, and disbursement fault.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D2B4"/>
                </a:solidFill>
              </a:defRPr>
            </a:pPr>
            <a:r>
              <a:t>SLIDE 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B4"/>
                </a:solidFill>
              </a:defRPr>
            </a:pPr>
            <a:r>
              <a:t>ARCHITECTURAL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4F8"/>
                </a:solidFill>
              </a:defRPr>
            </a:pPr>
            <a:r>
              <a:t>Key Engineering Takeaways &amp; Best Practices</a:t>
            </a:r>
          </a:p>
          <a:p>
            <a:pPr>
              <a:spcBef>
                <a:spcPts val="400"/>
              </a:spcBef>
              <a:defRPr sz="1500">
                <a:solidFill>
                  <a:srgbClr val="91A0B4"/>
                </a:solidFill>
              </a:defRPr>
            </a:pPr>
            <a:r>
              <a:t>Principles of Industrial-Grade BPMN 2.0 Process Modeling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Task Specialization: Clear separation of automated service actions, DMN decision logic, and human user tasks.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Gateway Discipline: Rigorous combination of parallel forks for speed, inclusive gates for policy, and exclusive gates for routing.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1C232D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73152" cy="1234440"/>
          </a:xfrm>
          <a:prstGeom prst="rect">
            <a:avLst/>
          </a:prstGeom>
          <a:solidFill>
            <a:srgbClr val="00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2161C"/>
          </a:solidFill>
          <a:ln w="19050">
            <a:solidFill>
              <a:srgbClr val="00D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D2B4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F0F4F8"/>
                </a:solidFill>
              </a:defRPr>
            </a:pPr>
            <a:r>
              <a:t>Resilience by Design: Boundary event SLA guards, bounded loops, transactional compensation, and catastrophic termination.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